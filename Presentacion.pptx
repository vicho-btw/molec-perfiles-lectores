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d0575bb-586c-c96e-701c-b1524053f962}">
          <p14:sldIdLst>
            <p14:sldId id="256"/>
          </p14:sldIdLst>
        </p14:section>
        <p14:section name="Contexto" id="{6b493cea-faa8-a036-7b9f-8f5a3dc9fa1e}">
          <p14:sldIdLst>
            <p14:sldId id="257"/>
            <p14:sldId id="258"/>
            <p14:sldId id="259"/>
          </p14:sldIdLst>
        </p14:section>
        <p14:section name="Datos" id="{d0c7075d-5aa8-1d60-3dea-a4e831542d2a}">
          <p14:sldIdLst>
            <p14:sldId id="260"/>
            <p14:sldId id="261"/>
            <p14:sldId id="262"/>
          </p14:sldIdLst>
        </p14:section>
        <p14:section name="Método" id="{b1545c2f-008e-4606-4b38-d7b015ea1e07}">
          <p14:sldIdLst>
            <p14:sldId id="263"/>
            <p14:sldId id="264"/>
          </p14:sldIdLst>
        </p14:section>
        <p14:section name="Resultados" id="{2b106fad-a8fa-9daa-1143-c0748408745d}">
          <p14:sldIdLst>
            <p14:sldId id="265"/>
            <p14:sldId id="266"/>
            <p14:sldId id="267"/>
            <p14:sldId id="268"/>
          </p14:sldIdLst>
        </p14:section>
        <p14:section name="Arquetipos" id="{1d5155b6-7a04-0a13-9788-988cc34b53f8}">
          <p14:sldIdLst>
            <p14:sldId id="269"/>
            <p14:sldId id="270"/>
            <p14:sldId id="271"/>
            <p14:sldId id="272"/>
          </p14:sldIdLst>
        </p14:section>
        <p14:section name="Propuesta" id="{32254385-8432-7e6b-e397-2e06d4539edb}">
          <p14:sldIdLst>
            <p14:sldId id="273"/>
          </p14:sldIdLst>
        </p14:section>
        <p14:section name="Cierre" id="{b0f2a87f-abc3-c9d5-3e8c-45fbdcdd2c25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que no lee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Primaria o menos</c:v>
                  </c:pt>
                  <c:pt idx="1">
                    <c:v>Secundaria</c:v>
                  </c:pt>
                  <c:pt idx="2">
                    <c:v>Media superior</c:v>
                  </c:pt>
                  <c:pt idx="3">
                    <c:v>Superior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52.7</c:v>
                </c:pt>
                <c:pt idx="1">
                  <c:v>38.3</c:v>
                </c:pt>
                <c:pt idx="2">
                  <c:v>25.1</c:v>
                </c:pt>
                <c:pt idx="3">
                  <c:v>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B8D3F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lectores</c:v>
                  </c:pt>
                  <c:pt idx="1">
                    <c:v>Internet</c:v>
                  </c:pt>
                  <c:pt idx="2">
                    <c:v>Impresos</c:v>
                  </c:pt>
                  <c:pt idx="3">
                    <c:v>Periódicos</c:v>
                  </c:pt>
                  <c:pt idx="4">
                    <c:v>Libros digitales</c:v>
                  </c:pt>
                  <c:pt idx="5">
                    <c:v>Historietas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28.6</c:v>
                </c:pt>
                <c:pt idx="1">
                  <c:v>25.4</c:v>
                </c:pt>
                <c:pt idx="2">
                  <c:v>15.4</c:v>
                </c:pt>
                <c:pt idx="3">
                  <c:v>19.2</c:v>
                </c:pt>
                <c:pt idx="4">
                  <c:v>6.2</c:v>
                </c:pt>
                <c:pt idx="5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lectores</c:v>
                  </c:pt>
                  <c:pt idx="1">
                    <c:v>Internet</c:v>
                  </c:pt>
                  <c:pt idx="2">
                    <c:v>Impresos</c:v>
                  </c:pt>
                  <c:pt idx="3">
                    <c:v>Periódicos</c:v>
                  </c:pt>
                  <c:pt idx="4">
                    <c:v>Libros digitales</c:v>
                  </c:pt>
                  <c:pt idx="5">
                    <c:v>Historietas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</c:v>
                </c:pt>
                <c:pt idx="1">
                  <c:v>27.3</c:v>
                </c:pt>
                <c:pt idx="2">
                  <c:v>16.1</c:v>
                </c:pt>
                <c:pt idx="3">
                  <c:v>9.4</c:v>
                </c:pt>
                <c:pt idx="4">
                  <c:v>9.6</c:v>
                </c:pt>
                <c:pt idx="5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5B64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18–29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Internet</c:v>
                  </c:pt>
                  <c:pt idx="1">
                    <c:v>No lectores</c:v>
                  </c:pt>
                  <c:pt idx="2">
                    <c:v>Libros digitales</c:v>
                  </c:pt>
                  <c:pt idx="3">
                    <c:v>Historietas</c:v>
                  </c:pt>
                  <c:pt idx="4">
                    <c:v>Impresos</c:v>
                  </c:pt>
                  <c:pt idx="5">
                    <c:v>Periódicos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36.4</c:v>
                </c:pt>
                <c:pt idx="1">
                  <c:v>20.2</c:v>
                </c:pt>
                <c:pt idx="2">
                  <c:v>14.4</c:v>
                </c:pt>
                <c:pt idx="3">
                  <c:v>11.4</c:v>
                </c:pt>
                <c:pt idx="4">
                  <c:v>10</c:v>
                </c:pt>
                <c:pt idx="5">
                  <c:v>7.7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análisis de la encuesta MOLEC del INEGI, 2019 a 2024: cómo cambió la lectura, qué tipos de lectores hay y qué estrategia de fomento proponemos.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lectura cayó casi 15 puntos en una década. Los promedios no dicen quiénes dejaron de leer ni qué leen; por eso buscamos tipos de lectores.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primeros objetivos son inferenciales, con grupos definidos antes de las pruebas. K-means queda como exploración para proponer la estrategia, como nos recomendó la profesora.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usa 8 entradas construidas con las variables de comportamiento: los tres conteos y los minutos en log(1 + x), y cuatro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Corregimos una decisión de la Etapa 1: eliminar a quien no recordaba sus antecedentes sacaba a personas mayores y menos lectoras.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proporciones se aproximan a la normal por el teorema del límite central. El log de libros no es normal según Shapiro–Wilk, pero con 500 o más por grupo el ANOVA es robusto, y Kruskal–Wallis, que compara medianas sin suponer normalidad, llega a lo mismo.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 lectura subió y los periódicos cayeron a la mitad. En libros e internet el intervalo incluye el cero: no hay evidencia de cambio, lo que no es lo mismo que demostrar que no cambiaron.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izquierda, cuánto no lee cada nivel. A la derecha, cuánto cambió entre 2019 y 2024: solo secundaria y media superior tienen intervalos que no tocan el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Siguiendo la retroalimentación: dejamos explícito el tratamiento de los 'no aplica' y no probamos diferencias sobre grupos que el propio algoritmo construyó.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lectores de periódicos se redujeron a la mitad; crecieron los no lectores y los de libros digitales, que saltaron en 2021, en la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DDE6F7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icho-btw/molec-perfiles-lectore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icho-btw/molec-perfiles-lectores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La realidad de la lectura en México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dirty="0">
                <a:solidFill>
                  <a:srgbClr val="DDE6F7"/>
                </a:solidFill>
              </a:rPr>
              <a:t>Perfiles lectores y su evolución, MOLEC 2019–2024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DE6F7"/>
                </a:solidFill>
              </a:rPr>
              <a:t>MOLEC 2019–2024 · REPORTE FINAL</a:t>
            </a:r>
            <a:endParaRPr lang="en-US" sz="13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6156655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github.com/vicho-btw/molec-perfiles-lectores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94415" cy="0"/>
          </a:xfrm>
          <a:prstGeom prst="line">
            <a:avLst/>
          </a:prstGeom>
          <a:noFill/>
          <a:ln w="12700">
            <a:solidFill>
              <a:srgbClr val="6F8D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2120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Equipo 5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Vicente Alonso Gallardo Montalva · Jia-Hong André Kuo Ko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Mauricio Ruiz Junco · Mauricio Horcasitas Farah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73775" y="5532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DE6F7"/>
                </a:solidFill>
              </a:rPr>
              <a:t>Modelación estadística para la toma de decisiones (Gpo 202)</a:t>
            </a:r>
            <a:endParaRPr lang="en-US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DE6F7"/>
                </a:solidFill>
              </a:rPr>
              <a:t>Dra. Blanca R. Ruiz Hernández · Dra. María Guadalupe Tobías Lara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Índice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Contexto y objetivo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Por qué medir la lectura · pregunta de investigación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3938" y="150876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3938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83938" y="205740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Datos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383938" y="256032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Preparación · variables · registros excluidos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19237" y="150876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9237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19237" y="205740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Método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256032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Técnicas estadísticas · verificación de supuestos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Resultados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Evolución 2019–2024 · escolaridad y hogar · pruebas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3938" y="352044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3938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83938" y="406908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Arquetipos de lector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383938" y="457200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Cómo se construyeron · seis arquetipos · demografía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19237" y="352044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19237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19237" y="406908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Propuesta y cierre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19237" y="457200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Estrategia por arquetipo · conclusiones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Por qué medir la lectura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423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90A2"/>
                </a:solidFill>
              </a:rPr>
              <a:t>84.2 </a:t>
            </a:r>
            <a:pPr indent="0" marL="0">
              <a:buNone/>
            </a:pPr>
            <a:r>
              <a:rPr lang="en-US" sz="2800" b="1" dirty="0">
                <a:solidFill>
                  <a:srgbClr val="8A90A2"/>
                </a:solidFill>
              </a:rPr>
              <a:t>→ </a:t>
            </a:r>
            <a:pPr indent="0" marL="0">
              <a:buNone/>
            </a:pPr>
            <a:r>
              <a:rPr lang="en-US" sz="4800" b="1" dirty="0">
                <a:solidFill>
                  <a:srgbClr val="D03B3B"/>
                </a:solidFill>
              </a:rPr>
              <a:t>69.6%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Población urbana alfabeta que leyó algún material, 2015 a 2024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INEGI, 2024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3938" y="146304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3938" y="1691640"/>
            <a:ext cx="3423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90A2"/>
                </a:solidFill>
              </a:rPr>
              <a:t>461 </a:t>
            </a:r>
            <a:pPr indent="0" marL="0">
              <a:buNone/>
            </a:pPr>
            <a:r>
              <a:rPr lang="en-US" sz="2800" b="1" dirty="0">
                <a:solidFill>
                  <a:srgbClr val="8A90A2"/>
                </a:solidFill>
              </a:rPr>
              <a:t>vs. </a:t>
            </a:r>
            <a:pPr indent="0" marL="0">
              <a:buNone/>
            </a:pPr>
            <a:r>
              <a:rPr lang="en-US" sz="4800" b="1" dirty="0">
                <a:solidFill>
                  <a:srgbClr val="D03B3B"/>
                </a:solidFill>
              </a:rPr>
              <a:t>408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383938" y="274320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Puntos en lectura en PISA 2025: promedio de la OCDE frente a México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383938" y="3611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OECD,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19237" y="146304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9237" y="1691640"/>
            <a:ext cx="3423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90A2"/>
                </a:solidFill>
              </a:rPr>
              <a:t>483 </a:t>
            </a:r>
            <a:pPr indent="0" marL="0">
              <a:buNone/>
            </a:pPr>
            <a:r>
              <a:rPr lang="en-US" sz="2800" b="1" dirty="0">
                <a:solidFill>
                  <a:srgbClr val="8A90A2"/>
                </a:solidFill>
              </a:rPr>
              <a:t>→ </a:t>
            </a:r>
            <a:pPr indent="0" marL="0">
              <a:buNone/>
            </a:pPr>
            <a:r>
              <a:rPr lang="en-US" sz="4800" b="1" dirty="0">
                <a:solidFill>
                  <a:srgbClr val="D03B3B"/>
                </a:solidFill>
              </a:rPr>
              <a:t>584 M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219237" y="274320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Niñas y niños sin habilidades mínimas de lectura tras la pandemia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3611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UNESCO, 2021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46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 promedio estable puede ocultar cambios en la composición de la población. Para dirigir el fomento hace falta saber qué tipos de lectores existen y cómo cambian.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Pregunta de investigación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¿Cómo cambió el comportamiento lector de la población urbana alfabeta de 18 años y más entre 2019 y 2024, qué arquetipos de lector pueden identificarse y qué estrategias de fomento se desprenden de ellos?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6052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1 · INFERENCIA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Estimar y probar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Cambio 2019–2024 en no lectura, libros, periódicos e internet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02254" y="39776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2254" y="416052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2 · INFERENCIA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02254" y="452628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Comparar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02254" y="502920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Libros leídos por escolaridad y relación con libros en casa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55868" y="39776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5868" y="416052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3 · EXPLORACIÓN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55868" y="452628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Explorar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55868" y="502920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Arquetipos de lector con k-means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09481" y="39776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09481" y="416052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4 · PROPUESTA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09481" y="452628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Proponer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109481" y="502920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Estrategia de fomento por arquetipo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Datos y preparación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5335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levantamientos anuales de MOLEC, 2019 a 2024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2254" y="14630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2254" y="164592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11,685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402254" y="2560320"/>
            <a:ext cx="25335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personas alfabetas de 18 años y más en la base preparada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5868" y="14630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55868" y="164592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32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55868" y="2560320"/>
            <a:ext cx="25335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variables: 25 de MOLEC y 7 derivadas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09481" y="1463040"/>
            <a:ext cx="2533574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09481" y="164592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70/15/15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109481" y="2560320"/>
            <a:ext cx="25335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entrenamiento, validación y prueba, estratificado por año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Calidad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527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código especial se revisó en el diccionario. Los pases de pregunta son “no aplica” y los “No recuerda” se excluyen solo del análisis de su variable.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420624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Ponderación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617720"/>
            <a:ext cx="527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Porcentajes con el factor de expansión e incertidumbre con el tamaño efectivo de Kish. Se excluye 2025 porque su cuestionario se rediseñó.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Variables utilizadas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MOLEC · COMPORTAMIENTO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149498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Lectura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34238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Leyó libros, revistas, periódicos, historietas, internet (5)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Libros, revistas y periódicos leídos (conteos)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Minutos continuos de lectura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Lee libros digitales · acostumbra leer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3938" y="141732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938" y="16002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MOLEC · CARACTERIZACIÓN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84797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383938" y="210312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Validación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83938" y="2651760"/>
            <a:ext cx="34238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Edad, escolaridad, sexo y entidad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4 antecedentes en casa: bibliotecas, ver leer, le leían, libros en casa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4 antecedentes en la primaria: leer, comentar, motivación, bibliotecas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19237" y="1417320"/>
            <a:ext cx="342381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6002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CONSTRUIDAS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820095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7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10312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Derivadas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2651760"/>
            <a:ext cx="34238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Tipo de lector (INEGI) y número de materiales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Grupo de edad y escolaridad agrupada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Índices de estímulos en hogar y primaria (0–4)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Partición entrenamiento / validación / prueba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11 + 12 + año y factor de expansión = 25 variables de MOLEC; con las 7 derivadas, 32. Misma redacción y codificación en los seis años (1 Sí, 2 No, 3 No recuerda, 0 pase).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Registros excluidos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61608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BASE FINAL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61608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ANTES: NA.OMIT() EN LA ETAPA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2.3%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196596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12.1%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518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281 de 11,966 registros: personas que no saben leer, a quienes no se aplica el módulo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3200400"/>
            <a:ext cx="518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1,409 personas eliminadas por algún “No recuerda”, lo que sesgaba la base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518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11,966 − 281 = 11,685 registros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Los faltantes se excluyen solo de su variable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4434840"/>
          <a:ext cx="5181448" cy="914400"/>
        </p:xfrm>
        <a:graphic>
          <a:graphicData uri="http://schemas.openxmlformats.org/drawingml/2006/table">
            <a:tbl>
              <a:tblPr/>
              <a:tblGrid>
                <a:gridCol w="2438248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Eliminadas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Resto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Edad media (años)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51.5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44.4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Lectores (%)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61.5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72.7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Técnicas estadísticas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4206240"/>
                <a:gridCol w="17647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Pregunta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Técnica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Distribución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¿Qué proporción lee cada material en 2019 y 2024?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IC de una proporción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Normal 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¿Cambió cada proporción, también por escolaridad?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IC y prueba de diferencia de proporciones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Normal 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¿Cuántos libros leen por escolaridad?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IC de la media · IC del cociente de varianzas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t · 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¿Difieren los libros entre niveles?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ANOVA y Welch · Kruskal–Wallis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F · χ²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¿Leer libros se asocia con libros en casa?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Independencia con corrección de Rao–Scott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χ²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¿Qué tipos de lector existen?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k-means · silueta y estabilidad (ARI)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Exploratorio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α = 0.04 y confianza de 96% en todas las pruebas e intervalos. Proporciones ponderadas con el factor de expansión.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Verificación de supuestos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572000"/>
                <a:gridCol w="4005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Supuesto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Revisión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Resultado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Diseño muestral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Tamaño efectivo de Kish; efecto de diseño 1.29–1.35 por año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33A0"/>
                          </a:solidFill>
                        </a:rPr>
                        <a:t>n efectivo ≈ 1,455–1,511 por año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Aproximación normal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n·p y n·(1 − p) ≥ 5 con el tamaño efectivo (TLC)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33A0"/>
                          </a:solidFill>
                        </a:rPr>
                        <a:t>Mínimo 265.4 (34.7 por escolaridad): se cumple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Normalidad (ANOVA)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Shapiro–Wilk en log(1 + libros) por nivel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33A0"/>
                          </a:solidFill>
                        </a:rPr>
                        <a:t>Se rechaza; con n ≥ 500 por nivel, el TLC lo respalda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Igualdad de varianzas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IC 96% del cociente: [1.27, 1.69] · Levene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33A0"/>
                          </a:solidFill>
                        </a:rPr>
                        <a:t>Distintas: Welch F = 98.1, p &lt; 0.001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Sin normalidad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Kruskal–Wallis sobre las medianas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33A0"/>
                          </a:solidFill>
                        </a:rPr>
                        <a:t>Confirma el ANOVA: H = 349.2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Prueba χ²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Frecuencias esperadas &gt; 5; estadístico ÷ efecto de diseño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33A0"/>
                          </a:solidFill>
                        </a:rPr>
                        <a:t>Válida con corrección de Rao–Scott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Evolución de la lectura, 2019–2024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554480"/>
                <a:gridCol w="3108960"/>
                <a:gridCol w="240487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Indicador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2019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2024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Cambio en puntos · IC 96%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Conclusión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</a:rPr>
                        <a:t>No lee nada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8A90A2"/>
                          </a:solidFill>
                        </a:rPr>
                        <a:t>25.2%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D03B3B"/>
                          </a:solidFill>
                        </a:rPr>
                        <a:t>30.4%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</a:rPr>
                        <a:t>+5.2  [1.8, 8.6]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D03B3B"/>
                          </a:solidFill>
                        </a:rPr>
                        <a:t>Aumentó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</a:rPr>
                        <a:t>Lee periódicos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8A90A2"/>
                          </a:solidFill>
                        </a:rPr>
                        <a:t>34.0%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D03B3B"/>
                          </a:solidFill>
                        </a:rPr>
                        <a:t>17.8%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</a:rPr>
                        <a:t>−16.2  [−19.4, −12.9]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D03B3B"/>
                          </a:solidFill>
                        </a:rPr>
                        <a:t>Disminuyó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</a:rPr>
                        <a:t>Lee libros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8A90A2"/>
                          </a:solidFill>
                        </a:rPr>
                        <a:t>42.2%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111827"/>
                          </a:solidFill>
                        </a:rPr>
                        <a:t>41.8%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</a:rPr>
                        <a:t>−0.4  [−4.1, 3.4]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5B6475"/>
                          </a:solidFill>
                        </a:rPr>
                        <a:t>Sin evidencia de cambio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</a:rPr>
                        <a:t>Lee internet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8A90A2"/>
                          </a:solidFill>
                        </a:rPr>
                        <a:t>40.8%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111827"/>
                          </a:solidFill>
                        </a:rPr>
                        <a:t>39.4%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</a:rPr>
                        <a:t>−1.3  [−5.0, 2.4]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5B6475"/>
                          </a:solidFill>
                        </a:rPr>
                        <a:t>Sin evidencia de cambio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Proporciones ponderadas con el factor de expansión; intervalos normales con el tamaño efectivo de Kish; α = 0.04.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No lectura por escolaridad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61608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% QUE NO LEE · 2019–2024 COMBINADOS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61608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CAMBIO 2019 → 2024 · IC 96% (PUNTOS)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965960"/>
          <a:ext cx="5272888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9088953" y="1965960"/>
            <a:ext cx="0" cy="2971800"/>
          </a:xfrm>
          <a:prstGeom prst="line">
            <a:avLst/>
          </a:prstGeom>
          <a:noFill/>
          <a:ln w="12700">
            <a:solidFill>
              <a:srgbClr val="8A90A2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61608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Primaria o menos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522541" y="2423160"/>
            <a:ext cx="2339529" cy="0"/>
          </a:xfrm>
          <a:prstGeom prst="line">
            <a:avLst/>
          </a:prstGeom>
          <a:noFill/>
          <a:ln w="31750">
            <a:solidFill>
              <a:srgbClr val="8A90A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0009" y="2340864"/>
            <a:ext cx="164592" cy="164592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6160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Secundaria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18425" y="3154680"/>
            <a:ext cx="1834683" cy="0"/>
          </a:xfrm>
          <a:prstGeom prst="line">
            <a:avLst/>
          </a:prstGeom>
          <a:noFill/>
          <a:ln w="31750">
            <a:solidFill>
              <a:srgbClr val="0033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59628" y="3072384"/>
            <a:ext cx="164592" cy="164592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61608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Media superior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273653" y="3886200"/>
            <a:ext cx="1477597" cy="0"/>
          </a:xfrm>
          <a:prstGeom prst="line">
            <a:avLst/>
          </a:prstGeom>
          <a:noFill/>
          <a:ln w="31750">
            <a:solidFill>
              <a:srgbClr val="0033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30155" y="3803904"/>
            <a:ext cx="164592" cy="164592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1608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Superior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02760" y="4617720"/>
            <a:ext cx="997378" cy="0"/>
          </a:xfrm>
          <a:prstGeom prst="line">
            <a:avLst/>
          </a:prstGeom>
          <a:noFill/>
          <a:ln w="31750">
            <a:solidFill>
              <a:srgbClr val="8A90A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25310" y="4535424"/>
            <a:ext cx="164592" cy="164592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98968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−5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814633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430299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045964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661630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77295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Aumento claro con secundaria (33.2% → 45.0%) y media superior (21.5% → 29.0%); con primaria o menos y superior el intervalo incluye el cero. La población de 2024 tiene más escolaridad, así que el aumento no se explica por la composición educativa.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Libros leídos, escolaridad y hogar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61608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LIBROS AL AÑO · LECTORES DE LIBROS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61608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LEEN LIBROS HOY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A90A2"/>
                </a:solidFill>
              </a:rPr>
              <a:t>1.7 </a:t>
            </a:r>
            <a:pPr indent="0" marL="0">
              <a:buNone/>
            </a:pPr>
            <a:r>
              <a:rPr lang="en-US" sz="3600" b="1" dirty="0">
                <a:solidFill>
                  <a:srgbClr val="8A90A2"/>
                </a:solidFill>
              </a:rPr>
              <a:t>→ </a:t>
            </a:r>
            <a:pPr indent="0" marL="0">
              <a:buNone/>
            </a:pPr>
            <a:r>
              <a:rPr lang="en-US" sz="7200" b="1" dirty="0">
                <a:solidFill>
                  <a:srgbClr val="0033A0"/>
                </a:solidFill>
              </a:rPr>
              <a:t>3.1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196596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33A0"/>
                </a:solidFill>
              </a:rPr>
              <a:t>53.2% </a:t>
            </a:r>
            <a:pPr indent="0" marL="0">
              <a:buNone/>
            </a:pPr>
            <a:r>
              <a:rPr lang="en-US" sz="3200" b="1" dirty="0">
                <a:solidFill>
                  <a:srgbClr val="8A90A2"/>
                </a:solidFill>
              </a:rPr>
              <a:t>vs. </a:t>
            </a:r>
            <a:pPr indent="0" marL="0">
              <a:buNone/>
            </a:pPr>
            <a:r>
              <a:rPr lang="en-US" sz="6400" b="1" dirty="0">
                <a:solidFill>
                  <a:srgbClr val="8A90A2"/>
                </a:solidFill>
              </a:rPr>
              <a:t>26.0%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518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Media geométrica con primaria o menos y con educación superior; medianas de 1 y 3 libros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3246120"/>
            <a:ext cx="518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Quienes tuvieron libros en casa durante la infancia, frente a quienes no los tuvieron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518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ANOVA F(3, 4,860) = 92.6 · p &lt; 0.001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Kruskal–Wallis H = 349.2 · p &lt; 0.001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4846320"/>
            <a:ext cx="518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χ² con corrección de Rao–Scott = 598.4 · p &lt; 0.001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La diferencia también se observa dentro de cada nivel educativo (descriptivo)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Resumen de pruebas de hipótesis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194560"/>
                <a:gridCol w="1463040"/>
                <a:gridCol w="1371600"/>
                <a:gridCol w="158191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Prueba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Distribución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Valor crítico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Estadístico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Decisión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1. No lectura aumentó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Normal 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1.75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3.16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33A0"/>
                          </a:solidFill>
                        </a:rPr>
                        <a:t>Rechazar H₀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2. Lectura de libros cambió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Normal 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±2.05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−0.20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No rechazar H₀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3. Lectura de periódicos bajó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Normal 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−1.75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−10.06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33A0"/>
                          </a:solidFill>
                        </a:rPr>
                        <a:t>Rechazar H₀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4. ANOVA: libros por escolaridad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F(3, 4,860)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2.77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92.6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33A0"/>
                          </a:solidFill>
                        </a:rPr>
                        <a:t>Rechazar H₀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5. Kruskal–Wallis: libros por escolaridad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χ²(3)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8.31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349.2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33A0"/>
                          </a:solidFill>
                        </a:rPr>
                        <a:t>Rechazar H₀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6. Libros leídos × libros en casa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χ²(1) Rao–Scott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4.22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598.4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33A0"/>
                          </a:solidFill>
                        </a:rPr>
                        <a:t>Rechazar H₀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α = 0.04 en todas las pruebas. Valor p &lt; 0.001 en todas, salvo la prueba 2 (p = 0.84).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se construyeron los arquetipos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Variables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53357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8 entradas de comportamiento: conteos de libros, revistas y periódicos y minutos en log(1 + x); internet, historietas, libro digital y acostumbra leer. Estandarizadas con el entrenamiento.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2254" y="1463040"/>
            <a:ext cx="548640" cy="54864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225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402254" y="219456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“No aplica”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402254" y="2697480"/>
            <a:ext cx="253357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Minutos = 0 para quien no lee nada y libro digital = 0 para quien no leyó libros. Eliminarlos quitaría al 29.5% de la muestra; imputar la media inventaría lectura.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5868" y="1463040"/>
            <a:ext cx="548640" cy="54864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586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55868" y="219456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Elegir k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255868" y="2697480"/>
            <a:ext cx="253357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Ajuste con entrenamiento (70%). k = 6 con validación (15%): el mayor k con estabilidad ARI ≥ 0.90 (0.97; con k = 7 cae a 0.71).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09481" y="1463040"/>
            <a:ext cx="548640" cy="54864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9481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09481" y="219456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Comprobar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109481" y="2697480"/>
            <a:ext cx="253357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Prueba (15%), usada una sola vez: silueta 0.45 y ARI 0.97. Los arquetipos se reproducen en datos nuevos.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8EE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1206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Uso exploratorio: los arquetipos sirven para proponer estrategias; no se hace inferencia sobre ellos.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Seis arquetipos de lector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36392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No lectores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Periódicos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Internet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Impresos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Libros digitales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Historietas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% de la muestra (sin ponderar)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32.1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13.6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24.0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17.3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8.0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5.1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Leyó libros (%)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1.1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34.8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50.8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33A0"/>
                          </a:solidFill>
                        </a:rPr>
                        <a:t>74.7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100.0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69.0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Libros al año (media)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1.6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4.9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3.5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Lee periódicos (%)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33A0"/>
                          </a:solidFill>
                        </a:rPr>
                        <a:t>100.0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15.0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14.5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28.7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38.2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Lee internet (%)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29.4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33A0"/>
                          </a:solidFill>
                        </a:rPr>
                        <a:t>100.0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75.2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69.5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Lee libros digitales (%)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33A0"/>
                          </a:solidFill>
                        </a:rPr>
                        <a:t>100.0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21.7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Lee historietas (%)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33A0"/>
                          </a:solidFill>
                        </a:rPr>
                        <a:t>100.0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Edad media (años)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49.2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48.6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38.6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50.9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37.8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34.7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</a:rPr>
                        <a:t>Libros en casa de niño (%)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37.7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66.4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73.9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58.3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84.3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76.0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azul, el rasgo que define a cada arquetipo. Los impresos se definen por no leer en internet y sí libros; los no lectores, por casi no leer nada.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Peso de cada arquetipo, 2019 y 2024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11277295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% ponderado de la población. Descriptivo: los arquetipos no se sometieron a inferencia. El cambio en periódicos y no lectura sí se probó con los indicadores (pruebas 1 y 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Arquetipos y demografía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61608" y="1417320"/>
            <a:ext cx="5181448" cy="0"/>
          </a:xfrm>
          <a:prstGeom prst="line">
            <a:avLst/>
          </a:prstGeom>
          <a:noFill/>
          <a:ln w="15875">
            <a:solidFill>
              <a:srgbClr val="1118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ACIERTO AL PREDECIR EL ARQUETIPO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61608" y="160020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JÓVENES DE 18 A 29 AÑOS (%)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39.9%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518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usando edad y escolaridad, frente a 32.1% sin usar la demografía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518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 de Cramér: 0.20 con la edad y 0.24 con la escolaridad, una asociación moderada.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70168" y="1920240"/>
          <a:ext cx="5272888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Una campaña “para jóvenes” mezclaría públicos que leen cosas distintas en canales distintos: la estrategia debe partir de qué y cómo lee cada persona.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Estrategia de fomento por arquetipo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7342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Arquetipo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Peso 2024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</a:rPr>
                        <a:t>Estrategia propuesta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No lectores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03B3B"/>
                          </a:solidFill>
                        </a:rPr>
                        <a:t>33.0% ↑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Textos breves y audio según sus intereses; libros en casa para familias con niños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Periódicos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03B3B"/>
                          </a:solidFill>
                        </a:rPr>
                        <a:t>9.4% 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Prensa digital, crónica y círculos de actualidad en bibliotecas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Internet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27.3% =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Puente de la pantalla al libro: fragmentos y préstamo digital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Impresos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16.1% =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Mantener el acceso físico: bibliotecas, ferias y libro usado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Libros digitales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33A0"/>
                          </a:solidFill>
                        </a:rPr>
                        <a:t>9.6% ↑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Convertirlos en mediadores: clubes y reseñas entre pares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</a:rPr>
                        <a:t>Historietas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</a:rPr>
                        <a:t>4.6% =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</a:rPr>
                        <a:t>Novela gráfica como puerta a la narrativa en escuelas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70916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E8EEF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800600"/>
            <a:ext cx="490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33A0"/>
                </a:solidFill>
              </a:rPr>
              <a:t>Transversal · El hogar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Leer libros se asocia con haber tenido libros en casa (prueba 6): llevar libros a hogares con niños atiende a los lectores de hoy y de mañana.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78728" y="470916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E8EE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7328" y="4800600"/>
            <a:ext cx="490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33A0"/>
                </a:solidFill>
              </a:rPr>
              <a:t>Transversal · La medición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Calcular cada año el peso de cada arquetipo con MOLEC y usarlo como indicador para evaluar si las acciones funcionan.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Peso 2024 y tendencia desde 2019. Recomendaciones derivadas del análisis; su efecto debe evaluarse con nuevas mediciones.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C7E8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La no lectura aumentó entre 1.8 y 8.6 puntos y la lectura de periódicos cayó; no hay evidencia de cambio en libros ni en internet.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C7E8"/>
                </a:solidFill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5146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Se leen más libros con más escolaridad, y tener libros en casa de niño se asocia con leer libros hoy.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C7E8"/>
                </a:solidFill>
              </a:rPr>
              <a:t>03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566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Seis arquetipos se distinguen por qué leen más que por quiénes son: el fomento debe dirigirse por arquetipo y empezar en el hogar.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1094415" cy="0"/>
          </a:xfrm>
          <a:prstGeom prst="line">
            <a:avLst/>
          </a:prstGeom>
          <a:noFill/>
          <a:ln w="12700">
            <a:solidFill>
              <a:srgbClr val="6F8D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Limitaciones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Sin conglomerados del diseño muestral (intervalos algo optimistas) · arquetipos exploratorios · datos observacionales y transversales: asociaciones, no causas.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Referencias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Hastie, T., Tibshirani, R., &amp; Friedman, J. (2009). The elements of statistical learning (2.ª ed.). Springer.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Instituto Nacional de Estadística y Geografía. (2019–2025). Módulo sobre Lectura (MOLEC) [Microdatos]. https://www.inegi.org.mx/programas/molec/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Instituto Nacional de Estadística y Geografía. (2024). Módulo sobre Lectura (MOLEC) 2024 (Comunicado de prensa núm. 235/24).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Kish, L. (1965). Survey sampling. Wiley.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Mol, S. E., &amp; Bus, A. G. (2011). To read or not to read. Psychological Bulletin, 137(2), 267–296.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OECD. (2026). PISA 2025 results (Volume I): Country notes: Mexico. OECD Publishing.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Rao, J. N. K., &amp; Scott, A. J. (1984). On chi-squared tests for multiway contingency tables with cell proportions estimated from survey data. The Annals of Statistics, 12(1), 46–60.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UNESCO. (2021). 100 million more children under the minimum reading proficiency level due to COVID-19.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Código, bases de datos y reporte completo: </a:t>
            </a:r>
            <a:pPr indent="0" marL="0">
              <a:buNone/>
            </a:pPr>
            <a:r>
              <a:rPr lang="en-US" sz="1500" u="sng" dirty="0">
                <a:solidFill>
                  <a:srgbClr val="0033A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github.com/vicho-btw/molec-perfiles-lectores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la elaboración se utilizó Claude (Anthropic) como asistente para el código en R, los cálculos y la redacción; el equipo definió la pregunta, el enfoque y la estrategia, y revisó los resultados.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a MOLEC">
  <a:themeElements>
    <a:clrScheme name="Lectura MOLEC">
      <a:dk1>
        <a:srgbClr val="111827"/>
      </a:dk1>
      <a:lt1>
        <a:srgbClr val="FFFFFF"/>
      </a:lt1>
      <a:dk2>
        <a:srgbClr val="5B6475"/>
      </a:dk2>
      <a:lt2>
        <a:srgbClr val="FAF9F5"/>
      </a:lt2>
      <a:accent1>
        <a:srgbClr val="0033A0"/>
      </a:accent1>
      <a:accent2>
        <a:srgbClr val="D03B3B"/>
      </a:accent2>
      <a:accent3>
        <a:srgbClr val="8A90A2"/>
      </a:accent3>
      <a:accent4>
        <a:srgbClr val="B8D3F2"/>
      </a:accent4>
      <a:accent5>
        <a:srgbClr val="2A78D6"/>
      </a:accent5>
      <a:accent6>
        <a:srgbClr val="1BAF7A"/>
      </a:accent6>
      <a:hlink>
        <a:srgbClr val="0033A0"/>
      </a:hlink>
      <a:folHlink>
        <a:srgbClr val="5B6475"/>
      </a:folHlink>
    </a:clrScheme>
    <a:fontScheme name="Lectura MOLE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realidad de la lectura en México</dc:title>
  <dc:subject>PptxGenJS Presentation</dc:subject>
  <dc:creator>Equipo 5</dc:creator>
  <cp:lastModifiedBy>Equipo 5</cp:lastModifiedBy>
  <cp:revision>1</cp:revision>
  <dcterms:created xsi:type="dcterms:W3CDTF">2026-10-22T04:56:45Z</dcterms:created>
  <dcterms:modified xsi:type="dcterms:W3CDTF">2026-10-22T04:56:45Z</dcterms:modified>
</cp:coreProperties>
</file>